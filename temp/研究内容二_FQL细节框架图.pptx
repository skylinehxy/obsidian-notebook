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669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310896" y="18288"/>
            <a:ext cx="1152144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 2 · 退化感知驱动的具身主动探索决策（Flow Q-Learning）细节框架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1938528" cy="4114800"/>
          </a:xfrm>
          <a:prstGeom prst="roundRect">
            <a:avLst>
              <a:gd name="adj" fmla="val 3774"/>
            </a:avLst>
          </a:prstGeom>
          <a:solidFill>
            <a:srgbClr val="EAF3F5"/>
          </a:solidFill>
          <a:ln w="15875">
            <a:solidFill>
              <a:srgbClr val="1C729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758952"/>
            <a:ext cx="17556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感知量化输出 (研究内容1)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" y="1060704"/>
            <a:ext cx="1682496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33856"/>
            <a:ext cx="16824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全局地图 &amp; 位姿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481328"/>
            <a:ext cx="16824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∈ SE(3) · ikd-Tree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2336" y="2011680"/>
            <a:ext cx="1682496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084832"/>
            <a:ext cx="16824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地图熵 H(m)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432304"/>
            <a:ext cx="16824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位姿协方差 Σ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962656"/>
            <a:ext cx="1682496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3035808"/>
            <a:ext cx="16824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6-DoF 可定位性 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3383280"/>
            <a:ext cx="16824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{none, partial, full}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" y="3913632"/>
            <a:ext cx="1682496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986784"/>
            <a:ext cx="16824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4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局部几何特征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336" y="4334256"/>
            <a:ext cx="168249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退化方向 / 法向分布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31136" y="2770632"/>
            <a:ext cx="23774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87168" y="713232"/>
            <a:ext cx="2212848" cy="4114800"/>
          </a:xfrm>
          <a:prstGeom prst="roundRect">
            <a:avLst>
              <a:gd name="adj" fmla="val 3306"/>
            </a:avLst>
          </a:prstGeom>
          <a:solidFill>
            <a:srgbClr val="EAEFF6"/>
          </a:solidFill>
          <a:ln w="15875">
            <a:solidFill>
              <a:srgbClr val="20486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578608" y="758952"/>
            <a:ext cx="20299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048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候选生成 &amp; 状态编码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33472" y="1097280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2048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1170432"/>
            <a:ext cx="1920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048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前沿点检测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33472" y="1499616"/>
            <a:ext cx="1920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探索候选 (未知边界)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33472" y="1938528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2048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2011680"/>
            <a:ext cx="1920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048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潜在回环点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33472" y="2340864"/>
            <a:ext cx="1920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利用候选 (重访降漂移)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93592" y="2670048"/>
            <a:ext cx="0" cy="164592"/>
          </a:xfrm>
          <a:prstGeom prst="line">
            <a:avLst/>
          </a:prstGeom>
          <a:noFill/>
          <a:ln w="25400">
            <a:solidFill>
              <a:srgbClr val="2048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633472" y="2871216"/>
            <a:ext cx="1920240" cy="566928"/>
          </a:xfrm>
          <a:prstGeom prst="roundRect">
            <a:avLst>
              <a:gd name="adj" fmla="val 8065"/>
            </a:avLst>
          </a:prstGeom>
          <a:solidFill>
            <a:srgbClr val="E3E9F3"/>
          </a:solidFill>
          <a:ln w="12700">
            <a:solidFill>
              <a:srgbClr val="2048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871216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候选目标集 = 动作空间 𝒜ₜ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33472" y="3602736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5875">
            <a:solidFill>
              <a:srgbClr val="2048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3675888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048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状态编码器  (MLP / Transformer)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33472" y="4005072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状态嵌入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sₜ = [ H(m), Σ, η, 局部几何 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18304" y="2770632"/>
            <a:ext cx="219456" cy="0"/>
          </a:xfrm>
          <a:prstGeom prst="line">
            <a:avLst/>
          </a:prstGeom>
          <a:noFill/>
          <a:ln w="25400">
            <a:solidFill>
              <a:srgbClr val="20486E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700016" y="2459736"/>
            <a:ext cx="25603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sₜ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56048" y="713232"/>
            <a:ext cx="4224528" cy="4114800"/>
          </a:xfrm>
          <a:prstGeom prst="roundRect">
            <a:avLst>
              <a:gd name="adj" fmla="val 1778"/>
            </a:avLst>
          </a:prstGeom>
          <a:solidFill>
            <a:srgbClr val="FFF7E9"/>
          </a:solidFill>
          <a:ln w="25400">
            <a:solidFill>
              <a:srgbClr val="E9A2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47488" y="758952"/>
            <a:ext cx="404164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F5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FQL 双策略决策核心   (无 BPTT · 部署单步推理)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20640" y="1097280"/>
            <a:ext cx="3895344" cy="950976"/>
          </a:xfrm>
          <a:prstGeom prst="roundRect">
            <a:avLst>
              <a:gd name="adj" fmla="val 4808"/>
            </a:avLst>
          </a:prstGeom>
          <a:solidFill>
            <a:srgbClr val="FFFBF2"/>
          </a:solidFill>
          <a:ln w="12700">
            <a:solidFill>
              <a:srgbClr val="E9A23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175504" y="1133856"/>
            <a:ext cx="3785616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979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BC Flow 表达性策略 μᵝ(s,z)   [仅离线行为克隆，刻画多模态行为分布]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66944" y="1426464"/>
            <a:ext cx="89611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66944" y="1463040"/>
            <a:ext cx="89611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 ~ 𝒩(0, I)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66944" y="1700784"/>
            <a:ext cx="8961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噪声采样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6172200" y="1682496"/>
            <a:ext cx="137160" cy="0"/>
          </a:xfrm>
          <a:prstGeom prst="line">
            <a:avLst/>
          </a:prstGeom>
          <a:noFill/>
          <a:ln w="25400">
            <a:solidFill>
              <a:srgbClr val="B9791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309360" y="1426464"/>
            <a:ext cx="151790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1463040"/>
            <a:ext cx="1517904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 ODE 积分 (T 步)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9360" y="1700784"/>
            <a:ext cx="151790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a⁽⁰⁾→a⁽¹⁾→…→a⁽ᵀ⁾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836408" y="1682496"/>
            <a:ext cx="137160" cy="0"/>
          </a:xfrm>
          <a:prstGeom prst="line">
            <a:avLst/>
          </a:prstGeom>
          <a:noFill/>
          <a:ln w="25400">
            <a:solidFill>
              <a:srgbClr val="B9791A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973568" y="1426464"/>
            <a:ext cx="89611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1426464"/>
            <a:ext cx="896112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μᵝ 多模态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行为先验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120640" y="2157984"/>
            <a:ext cx="3895344" cy="786384"/>
          </a:xfrm>
          <a:prstGeom prst="roundRect">
            <a:avLst>
              <a:gd name="adj" fmla="val 5814"/>
            </a:avLst>
          </a:prstGeom>
          <a:solidFill>
            <a:srgbClr val="FFFBF2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75504" y="2185416"/>
            <a:ext cx="378561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979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一步策略 μ(s,z)   [承担 Q 最大化，部署时单步生成动作]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266944" y="2450592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66944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sₜ ⊕ z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66944" y="2688336"/>
            <a:ext cx="109728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状态+噪声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6373368" y="2660904"/>
            <a:ext cx="137160" cy="0"/>
          </a:xfrm>
          <a:prstGeom prst="line">
            <a:avLst/>
          </a:prstGeom>
          <a:noFill/>
          <a:ln w="25400">
            <a:solidFill>
              <a:srgbClr val="B9791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510528" y="2450592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0528" y="2468880"/>
            <a:ext cx="11887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单步策略网络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10528" y="2688336"/>
            <a:ext cx="118872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one-step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7708392" y="2660904"/>
            <a:ext cx="137160" cy="0"/>
          </a:xfrm>
          <a:prstGeom prst="line">
            <a:avLst/>
          </a:prstGeom>
          <a:noFill/>
          <a:ln w="25400">
            <a:solidFill>
              <a:srgbClr val="B9791A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845552" y="2450592"/>
            <a:ext cx="102412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45552" y="2468880"/>
            <a:ext cx="102412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候选动作 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845552" y="2688336"/>
            <a:ext cx="1024128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目标选择 ∈ 𝒜ₜ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8513064" y="1938528"/>
            <a:ext cx="0" cy="219456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7278624" y="1938528"/>
            <a:ext cx="12344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E5C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蒸馏 α‖μ−μᵝ‖²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120640" y="3054096"/>
            <a:ext cx="3895344" cy="713232"/>
          </a:xfrm>
          <a:prstGeom prst="roundRect">
            <a:avLst>
              <a:gd name="adj" fmla="val 6410"/>
            </a:avLst>
          </a:prstGeom>
          <a:solidFill>
            <a:srgbClr val="FFFBF2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75504" y="3081528"/>
            <a:ext cx="378561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979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评论家 Critic  Q_φ(s, a)   [TD 学习，提供价值信号]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285232" y="3328416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85232" y="3328416"/>
            <a:ext cx="23774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L_Q = ( Q − r − γ Q̄′ )²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101584" y="2871216"/>
            <a:ext cx="0" cy="182880"/>
          </a:xfrm>
          <a:prstGeom prst="line">
            <a:avLst/>
          </a:prstGeom>
          <a:noFill/>
          <a:ln w="25400">
            <a:solidFill>
              <a:srgbClr val="8F5E10"/>
            </a:solidFill>
            <a:prstDash val="solid"/>
            <a:headEnd type="triangle"/>
          </a:ln>
        </p:spPr>
      </p:sp>
      <p:sp>
        <p:nvSpPr>
          <p:cNvPr id="70" name="Text 68"/>
          <p:cNvSpPr/>
          <p:nvPr/>
        </p:nvSpPr>
        <p:spPr>
          <a:xfrm>
            <a:off x="7232904" y="2816352"/>
            <a:ext cx="8229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F5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Q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120640" y="3858768"/>
            <a:ext cx="3895344" cy="859536"/>
          </a:xfrm>
          <a:prstGeom prst="roundRect">
            <a:avLst>
              <a:gd name="adj" fmla="val 5319"/>
            </a:avLst>
          </a:prstGeom>
          <a:solidFill>
            <a:srgbClr val="FBEFD6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0640" y="3858768"/>
            <a:ext cx="3895344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F5E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actor 目标:   min_μ  𝔼[ −Q(s, μ(s,z)) ]  +  α 𝔼[ ‖μ(s,z) − μᵝ(s,z)‖² ]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436608" y="713232"/>
            <a:ext cx="2478024" cy="4114800"/>
          </a:xfrm>
          <a:prstGeom prst="roundRect">
            <a:avLst>
              <a:gd name="adj" fmla="val 2952"/>
            </a:avLst>
          </a:prstGeom>
          <a:solidFill>
            <a:srgbClr val="FCEDE6"/>
          </a:solidFill>
          <a:ln w="15875">
            <a:solidFill>
              <a:srgbClr val="E76F51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9528048" y="758952"/>
            <a:ext cx="229514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退化感知奖励 &amp; 决策输出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9564624" y="1097280"/>
            <a:ext cx="2221992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64624" y="1170432"/>
            <a:ext cx="22219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54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退化感知奖励 r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9692640" y="1463040"/>
            <a:ext cx="1984248" cy="10972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信息增益 (D-opt / MI)</a:t>
            </a:r>
            <a:endParaRPr lang="en-US" sz="9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30" b="1" dirty="0">
                <a:solidFill>
                  <a:srgbClr val="B54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 λ₁ · 可定位性风险 R(η)</a:t>
            </a:r>
            <a:endParaRPr lang="en-US" sz="9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 λ₂ · 运动 / 能耗代价</a:t>
            </a:r>
            <a:endParaRPr lang="en-US" sz="930" dirty="0"/>
          </a:p>
        </p:txBody>
      </p:sp>
      <p:sp>
        <p:nvSpPr>
          <p:cNvPr id="78" name="Shape 76"/>
          <p:cNvSpPr/>
          <p:nvPr/>
        </p:nvSpPr>
        <p:spPr>
          <a:xfrm>
            <a:off x="9198864" y="4096512"/>
            <a:ext cx="219456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headEnd type="triangle"/>
          </a:ln>
        </p:spPr>
      </p:sp>
      <p:sp>
        <p:nvSpPr>
          <p:cNvPr id="79" name="Text 77"/>
          <p:cNvSpPr/>
          <p:nvPr/>
        </p:nvSpPr>
        <p:spPr>
          <a:xfrm>
            <a:off x="9180576" y="3822192"/>
            <a:ext cx="25603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54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564624" y="2852928"/>
            <a:ext cx="2221992" cy="914400"/>
          </a:xfrm>
          <a:prstGeom prst="roundRect">
            <a:avLst>
              <a:gd name="adj" fmla="val 5000"/>
            </a:avLst>
          </a:prstGeom>
          <a:solidFill>
            <a:srgbClr val="FCE0D6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564624" y="2926080"/>
            <a:ext cx="222199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54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探索决策输出 a*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564624" y="3236976"/>
            <a:ext cx="2221992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目标点 / 速度指令</a:t>
            </a:r>
            <a:endParaRPr lang="en-US" sz="88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A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研究内容3 自适应导航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9198864" y="3310128"/>
            <a:ext cx="219456" cy="0"/>
          </a:xfrm>
          <a:prstGeom prst="line">
            <a:avLst/>
          </a:prstGeom>
          <a:noFill/>
          <a:ln w="25400">
            <a:solidFill>
              <a:srgbClr val="B9791A"/>
            </a:solidFill>
            <a:prstDash val="solid"/>
            <a:headEnd type="triangle"/>
          </a:ln>
        </p:spPr>
      </p:sp>
      <p:sp>
        <p:nvSpPr>
          <p:cNvPr id="84" name="Text 82"/>
          <p:cNvSpPr/>
          <p:nvPr/>
        </p:nvSpPr>
        <p:spPr>
          <a:xfrm>
            <a:off x="9180576" y="3035808"/>
            <a:ext cx="25603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979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675620" y="4846320"/>
            <a:ext cx="0" cy="146304"/>
          </a:xfrm>
          <a:prstGeom prst="line">
            <a:avLst/>
          </a:prstGeom>
          <a:noFill/>
          <a:ln w="25400">
            <a:solidFill>
              <a:srgbClr val="E76F51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1243584" y="4992624"/>
            <a:ext cx="9432036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1243584" y="4846320"/>
            <a:ext cx="0" cy="146304"/>
          </a:xfrm>
          <a:prstGeom prst="line">
            <a:avLst/>
          </a:prstGeom>
          <a:noFill/>
          <a:ln w="25400">
            <a:solidFill>
              <a:srgbClr val="E76F51"/>
            </a:solidFill>
            <a:prstDash val="dash"/>
            <a:headEnd type="triangle"/>
          </a:ln>
        </p:spPr>
      </p:sp>
      <p:sp>
        <p:nvSpPr>
          <p:cNvPr id="88" name="Text 86"/>
          <p:cNvSpPr/>
          <p:nvPr/>
        </p:nvSpPr>
        <p:spPr>
          <a:xfrm>
            <a:off x="2487168" y="4992624"/>
            <a:ext cx="669340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B546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闭环反馈：执行 a* → 研究内容3 自适应导航 → 环境交互 → 新观测 → 更新感知量化 (研究内容1)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5285232"/>
            <a:ext cx="11640312" cy="841248"/>
          </a:xfrm>
          <a:prstGeom prst="roundRect">
            <a:avLst>
              <a:gd name="adj" fmla="val 8696"/>
            </a:avLst>
          </a:prstGeom>
          <a:solidFill>
            <a:srgbClr val="EDF0F4"/>
          </a:solidFill>
          <a:ln w="15875">
            <a:solidFill>
              <a:srgbClr val="55667A"/>
            </a:solidFill>
            <a:prstDash val="dash"/>
          </a:ln>
        </p:spPr>
      </p:sp>
      <p:sp>
        <p:nvSpPr>
          <p:cNvPr id="90" name="Text 88"/>
          <p:cNvSpPr/>
          <p:nvPr/>
        </p:nvSpPr>
        <p:spPr>
          <a:xfrm>
            <a:off x="365760" y="5330952"/>
            <a:ext cx="114574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566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训练范式：离线预训练 + 在线适配 (offline → online)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457200" y="5596128"/>
            <a:ext cx="2064715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5667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614416"/>
            <a:ext cx="206471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演示缓冲 Demos buffer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57200" y="5852160"/>
            <a:ext cx="206471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专家轨迹 / 历史 SLAM 轨迹</a:t>
            </a:r>
            <a:endParaRPr lang="en-US" sz="760" dirty="0"/>
          </a:p>
        </p:txBody>
      </p:sp>
      <p:sp>
        <p:nvSpPr>
          <p:cNvPr id="94" name="Shape 92"/>
          <p:cNvSpPr/>
          <p:nvPr/>
        </p:nvSpPr>
        <p:spPr>
          <a:xfrm>
            <a:off x="2540203" y="5824728"/>
            <a:ext cx="182880" cy="0"/>
          </a:xfrm>
          <a:prstGeom prst="line">
            <a:avLst/>
          </a:prstGeom>
          <a:noFill/>
          <a:ln w="25400">
            <a:solidFill>
              <a:srgbClr val="55667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2759659" y="5596128"/>
            <a:ext cx="2064715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5667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59659" y="5614416"/>
            <a:ext cx="206471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仿真退化场景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2759659" y="5852160"/>
            <a:ext cx="206471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Gazebo 隧道·巷道·矿井</a:t>
            </a:r>
            <a:endParaRPr lang="en-US" sz="760" dirty="0"/>
          </a:p>
        </p:txBody>
      </p:sp>
      <p:sp>
        <p:nvSpPr>
          <p:cNvPr id="98" name="Shape 96"/>
          <p:cNvSpPr/>
          <p:nvPr/>
        </p:nvSpPr>
        <p:spPr>
          <a:xfrm>
            <a:off x="4842662" y="5824728"/>
            <a:ext cx="182880" cy="0"/>
          </a:xfrm>
          <a:prstGeom prst="line">
            <a:avLst/>
          </a:prstGeom>
          <a:noFill/>
          <a:ln w="25400">
            <a:solidFill>
              <a:srgbClr val="55667A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5062118" y="5596128"/>
            <a:ext cx="2064715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5667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62118" y="5614416"/>
            <a:ext cx="206471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离线预训练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5062118" y="5852160"/>
            <a:ext cx="206471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 Flow + 离线 RL (FQL)</a:t>
            </a:r>
            <a:endParaRPr lang="en-US" sz="760" dirty="0"/>
          </a:p>
        </p:txBody>
      </p:sp>
      <p:sp>
        <p:nvSpPr>
          <p:cNvPr id="102" name="Shape 100"/>
          <p:cNvSpPr/>
          <p:nvPr/>
        </p:nvSpPr>
        <p:spPr>
          <a:xfrm>
            <a:off x="7145122" y="5824728"/>
            <a:ext cx="182880" cy="0"/>
          </a:xfrm>
          <a:prstGeom prst="line">
            <a:avLst/>
          </a:prstGeom>
          <a:noFill/>
          <a:ln w="25400">
            <a:solidFill>
              <a:srgbClr val="55667A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7364578" y="5596128"/>
            <a:ext cx="2064715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5667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364578" y="5614416"/>
            <a:ext cx="206471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offline → online 在线微调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364578" y="5852160"/>
            <a:ext cx="206471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真实退化场景适配</a:t>
            </a:r>
            <a:endParaRPr lang="en-US" sz="760" dirty="0"/>
          </a:p>
        </p:txBody>
      </p:sp>
      <p:sp>
        <p:nvSpPr>
          <p:cNvPr id="106" name="Shape 104"/>
          <p:cNvSpPr/>
          <p:nvPr/>
        </p:nvSpPr>
        <p:spPr>
          <a:xfrm>
            <a:off x="9447581" y="5824728"/>
            <a:ext cx="182880" cy="0"/>
          </a:xfrm>
          <a:prstGeom prst="line">
            <a:avLst/>
          </a:prstGeom>
          <a:noFill/>
          <a:ln w="25400">
            <a:solidFill>
              <a:srgbClr val="55667A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9667037" y="5596128"/>
            <a:ext cx="2064715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5667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667037" y="5614416"/>
            <a:ext cx="206471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机载部署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9667037" y="5852160"/>
            <a:ext cx="206471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单步推理 ~ ms 级</a:t>
            </a:r>
            <a:endParaRPr lang="en-US" sz="760" dirty="0"/>
          </a:p>
        </p:txBody>
      </p:sp>
      <p:sp>
        <p:nvSpPr>
          <p:cNvPr id="110" name="Text 108"/>
          <p:cNvSpPr/>
          <p:nvPr/>
        </p:nvSpPr>
        <p:spPr>
          <a:xfrm>
            <a:off x="274320" y="6547104"/>
            <a:ext cx="116403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X　研究内容2：退化感知驱动的具身主动探索决策（FQL 双策略）细节框架图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研究内容2 FQL 细节框架图</dc:title>
  <dc:subject>PptxGenJS Presentation</dc:subject>
  <dc:creator>PptxGenJS</dc:creator>
  <cp:lastModifiedBy>PptxGenJS</cp:lastModifiedBy>
  <cp:revision>1</cp:revision>
  <dcterms:created xsi:type="dcterms:W3CDTF">2026-06-07T09:29:29Z</dcterms:created>
  <dcterms:modified xsi:type="dcterms:W3CDTF">2026-06-07T09:29:29Z</dcterms:modified>
</cp:coreProperties>
</file>