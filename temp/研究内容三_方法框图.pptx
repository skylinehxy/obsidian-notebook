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0"/>
            <a:ext cx="10973" cy="68580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595360" y="0"/>
            <a:ext cx="10973" cy="68580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95360" y="0"/>
            <a:ext cx="10973" cy="68580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595360" y="0"/>
            <a:ext cx="10973" cy="68580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595360" y="0"/>
            <a:ext cx="10973" cy="68580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595360" y="0"/>
            <a:ext cx="10973" cy="68580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229600" y="-2011680"/>
            <a:ext cx="5943600" cy="59436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326880" y="-914400"/>
            <a:ext cx="4114800" cy="4114800"/>
          </a:xfrm>
          <a:prstGeom prst="ellipse">
            <a:avLst/>
          </a:prstGeom>
          <a:solidFill>
            <a:srgbClr val="E9A23B">
              <a:alpha val="1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234440"/>
            <a:ext cx="8229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9A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研究内容（三）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1737360"/>
            <a:ext cx="10424160" cy="1737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面向地下退化环境的</a:t>
            </a:r>
            <a:endParaRPr lang="en-US" sz="4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具身主动感知与自适应导航机理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22960" y="3703320"/>
            <a:ext cx="102412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LiDAR–惯性紧耦合建图底座（FAST-LIO2 / Faster-LIO）  +  可定位性在线量化（X-ICP）  +  Flow Q-Learning 主动探索决策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489204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16395E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892040"/>
            <a:ext cx="91440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1078992" y="5074920"/>
            <a:ext cx="30175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退化感知机理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78992" y="5532120"/>
            <a:ext cx="29718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几何自相似环境下感知可靠性的可计算表征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34840" y="489204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16395E"/>
          </a:solidFill>
          <a:ln w="19050">
            <a:solidFill>
              <a:srgbClr val="E9A2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0" y="4892040"/>
            <a:ext cx="91440" cy="1371600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20" name="Text 18"/>
          <p:cNvSpPr/>
          <p:nvPr/>
        </p:nvSpPr>
        <p:spPr>
          <a:xfrm>
            <a:off x="4690872" y="5074920"/>
            <a:ext cx="30175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主动决策机理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90872" y="5532120"/>
            <a:ext cx="29718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探索–利用–可定位性三元耦合的最优决策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046720" y="489204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16395E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4892040"/>
            <a:ext cx="91440" cy="13716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4" name="Text 22"/>
          <p:cNvSpPr/>
          <p:nvPr/>
        </p:nvSpPr>
        <p:spPr>
          <a:xfrm>
            <a:off x="8302752" y="5074920"/>
            <a:ext cx="30175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自适应导航机理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02752" y="5532120"/>
            <a:ext cx="29718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感知-决策-导航闭环的在线自适应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总体方法框图：退化感知驱动的具身主动 SLAM 闭环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417320" cy="603504"/>
          </a:xfrm>
          <a:prstGeom prst="roundRect">
            <a:avLst>
              <a:gd name="adj" fmla="val 10606"/>
            </a:avLst>
          </a:prstGeom>
          <a:solidFill>
            <a:srgbClr val="0E2A47"/>
          </a:solidFill>
          <a:ln/>
        </p:spPr>
      </p:sp>
      <p:sp>
        <p:nvSpPr>
          <p:cNvPr id="4" name="Text 2"/>
          <p:cNvSpPr/>
          <p:nvPr/>
        </p:nvSpPr>
        <p:spPr>
          <a:xfrm>
            <a:off x="402336" y="841248"/>
            <a:ext cx="1344168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965960" y="841248"/>
            <a:ext cx="2682240" cy="603504"/>
          </a:xfrm>
          <a:prstGeom prst="roundRect">
            <a:avLst>
              <a:gd name="adj" fmla="val 10606"/>
            </a:avLst>
          </a:prstGeom>
          <a:solidFill>
            <a:srgbClr val="DDE6F0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5960" y="841248"/>
            <a:ext cx="268224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LiDAR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(机械 / 固态)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922520" y="841248"/>
            <a:ext cx="2682240" cy="603504"/>
          </a:xfrm>
          <a:prstGeom prst="roundRect">
            <a:avLst>
              <a:gd name="adj" fmla="val 10606"/>
            </a:avLst>
          </a:prstGeom>
          <a:solidFill>
            <a:srgbClr val="DDE6F0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22520" y="841248"/>
            <a:ext cx="268224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IMU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(角速度·加速度)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879080" y="841248"/>
            <a:ext cx="2682240" cy="603504"/>
          </a:xfrm>
          <a:prstGeom prst="roundRect">
            <a:avLst>
              <a:gd name="adj" fmla="val 10606"/>
            </a:avLst>
          </a:prstGeom>
          <a:solidFill>
            <a:srgbClr val="DDE6F0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79080" y="841248"/>
            <a:ext cx="268224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轮式里程计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(里程·编码器)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1700784"/>
            <a:ext cx="1417320" cy="1170432"/>
          </a:xfrm>
          <a:prstGeom prst="roundRect">
            <a:avLst>
              <a:gd name="adj" fmla="val 5469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" y="1700784"/>
            <a:ext cx="1344168" cy="1170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LiDAR-惯性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SLAM 底座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965960" y="1700784"/>
            <a:ext cx="859536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130552" y="1847088"/>
            <a:ext cx="1463040" cy="877824"/>
          </a:xfrm>
          <a:prstGeom prst="roundRect">
            <a:avLst>
              <a:gd name="adj" fmla="val 6250"/>
            </a:avLst>
          </a:prstGeom>
          <a:solidFill>
            <a:srgbClr val="E8F1F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30552" y="1920240"/>
            <a:ext cx="14630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4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点云预处理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130552" y="2267712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运动去畸变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体素降采样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07308" y="2286000"/>
            <a:ext cx="155448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794760" y="1847088"/>
            <a:ext cx="1463040" cy="877824"/>
          </a:xfrm>
          <a:prstGeom prst="roundRect">
            <a:avLst>
              <a:gd name="adj" fmla="val 6250"/>
            </a:avLst>
          </a:prstGeom>
          <a:solidFill>
            <a:srgbClr val="E8F1F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1920240"/>
            <a:ext cx="14630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4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紧耦合前端里程计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794760" y="2267712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iEKF·流形误差状态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FAST-LIO2 直接配准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271516" y="2286000"/>
            <a:ext cx="155448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58968" y="1847088"/>
            <a:ext cx="1463040" cy="877824"/>
          </a:xfrm>
          <a:prstGeom prst="roundRect">
            <a:avLst>
              <a:gd name="adj" fmla="val 6250"/>
            </a:avLst>
          </a:prstGeom>
          <a:solidFill>
            <a:srgbClr val="E8F1F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58968" y="1920240"/>
            <a:ext cx="14630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4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增量地图管理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58968" y="2267712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ikd-Tree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O(log n) 增删/kNN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935724" y="2286000"/>
            <a:ext cx="155448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123176" y="1847088"/>
            <a:ext cx="1463040" cy="877824"/>
          </a:xfrm>
          <a:prstGeom prst="roundRect">
            <a:avLst>
              <a:gd name="adj" fmla="val 6250"/>
            </a:avLst>
          </a:prstGeom>
          <a:solidFill>
            <a:srgbClr val="E8F1F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23176" y="1920240"/>
            <a:ext cx="14630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4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回环 &amp; 位姿图优化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123176" y="2267712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回环检测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 BA / PGO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599932" y="2286000"/>
            <a:ext cx="155448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787384" y="1847088"/>
            <a:ext cx="1463040" cy="877824"/>
          </a:xfrm>
          <a:prstGeom prst="roundRect">
            <a:avLst>
              <a:gd name="adj" fmla="val 6250"/>
            </a:avLst>
          </a:prstGeom>
          <a:solidFill>
            <a:srgbClr val="E8F1F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87384" y="1920240"/>
            <a:ext cx="14630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4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全局地图输出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787384" y="2267712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稠密点云地图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实时位姿 T∈SE(3)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072384"/>
            <a:ext cx="1417320" cy="969264"/>
          </a:xfrm>
          <a:prstGeom prst="roundRect">
            <a:avLst>
              <a:gd name="adj" fmla="val 6604"/>
            </a:avLst>
          </a:prstGeom>
          <a:solidFill>
            <a:srgbClr val="2A9D8F"/>
          </a:solidFill>
          <a:ln/>
        </p:spPr>
      </p:sp>
      <p:sp>
        <p:nvSpPr>
          <p:cNvPr id="34" name="Text 32"/>
          <p:cNvSpPr/>
          <p:nvPr/>
        </p:nvSpPr>
        <p:spPr>
          <a:xfrm>
            <a:off x="402336" y="3072384"/>
            <a:ext cx="1344168" cy="969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退化感知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量化层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965960" y="3072384"/>
            <a:ext cx="859536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5875">
            <a:solidFill>
              <a:srgbClr val="2A9D8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130552" y="3200400"/>
            <a:ext cx="1883664" cy="713232"/>
          </a:xfrm>
          <a:prstGeom prst="roundRect">
            <a:avLst>
              <a:gd name="adj" fmla="val 7692"/>
            </a:avLst>
          </a:prstGeom>
          <a:solidFill>
            <a:srgbClr val="E3F4F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30552" y="3255264"/>
            <a:ext cx="1883664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E5C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Hessian 旋转/平移分块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130552" y="3602736"/>
            <a:ext cx="1883664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A′ 分块独立 SVD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消除尺度差异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032504" y="3557016"/>
            <a:ext cx="164592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233672" y="3200400"/>
            <a:ext cx="1883664" cy="713232"/>
          </a:xfrm>
          <a:prstGeom prst="roundRect">
            <a:avLst>
              <a:gd name="adj" fmla="val 7692"/>
            </a:avLst>
          </a:prstGeom>
          <a:solidFill>
            <a:srgbClr val="E3F4F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33672" y="3255264"/>
            <a:ext cx="1883664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E5C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可定位性特征空间分析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233672" y="3602736"/>
            <a:ext cx="1883664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力矩类比·信息对贡献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投影到特征空间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35624" y="3557016"/>
            <a:ext cx="164592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336792" y="3200400"/>
            <a:ext cx="1883664" cy="713232"/>
          </a:xfrm>
          <a:prstGeom prst="roundRect">
            <a:avLst>
              <a:gd name="adj" fmla="val 7692"/>
            </a:avLst>
          </a:prstGeom>
          <a:solidFill>
            <a:srgbClr val="E3F4F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36792" y="3255264"/>
            <a:ext cx="1883664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E5C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6-DoF 可定位性状态 η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336792" y="3602736"/>
            <a:ext cx="1883664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η∈{none, partial, full}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三级细粒度判决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238744" y="3557016"/>
            <a:ext cx="164592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439912" y="3200400"/>
            <a:ext cx="1883664" cy="713232"/>
          </a:xfrm>
          <a:prstGeom prst="roundRect">
            <a:avLst>
              <a:gd name="adj" fmla="val 7692"/>
            </a:avLst>
          </a:prstGeom>
          <a:solidFill>
            <a:srgbClr val="E3F4F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39912" y="3255264"/>
            <a:ext cx="1883664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E5C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不确定性度量输出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439912" y="3602736"/>
            <a:ext cx="1883664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地图熵 H(m) · 位姿协方差 Σ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D-opt |Σ| · 局部几何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65760" y="4242816"/>
            <a:ext cx="1417320" cy="1298448"/>
          </a:xfrm>
          <a:prstGeom prst="roundRect">
            <a:avLst>
              <a:gd name="adj" fmla="val 4930"/>
            </a:avLst>
          </a:prstGeom>
          <a:solidFill>
            <a:srgbClr val="C77F1A"/>
          </a:solidFill>
          <a:ln/>
        </p:spPr>
      </p:sp>
      <p:sp>
        <p:nvSpPr>
          <p:cNvPr id="52" name="Text 50"/>
          <p:cNvSpPr/>
          <p:nvPr/>
        </p:nvSpPr>
        <p:spPr>
          <a:xfrm>
            <a:off x="402336" y="4242816"/>
            <a:ext cx="1344168" cy="1298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具身主动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决策层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(FQL)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1965960" y="4242816"/>
            <a:ext cx="8595360" cy="1298448"/>
          </a:xfrm>
          <a:prstGeom prst="roundRect">
            <a:avLst>
              <a:gd name="adj" fmla="val 4930"/>
            </a:avLst>
          </a:prstGeom>
          <a:solidFill>
            <a:srgbClr val="FFF6E8"/>
          </a:solidFill>
          <a:ln w="19050">
            <a:solidFill>
              <a:srgbClr val="E9A23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2130552" y="4389120"/>
            <a:ext cx="22860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130552" y="4462272"/>
            <a:ext cx="22860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77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候选生成 &amp; 状态编码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2240280" y="4791456"/>
            <a:ext cx="20116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候选：前沿点 + 潜在回环点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状态 sₜ = [H(m), Σ, η, 局部几何]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672584" y="4389120"/>
            <a:ext cx="42062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72584" y="4462272"/>
            <a:ext cx="420624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77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FQL 双策略架构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855464" y="4809744"/>
            <a:ext cx="1828800" cy="566928"/>
          </a:xfrm>
          <a:prstGeom prst="roundRect">
            <a:avLst>
              <a:gd name="adj" fmla="val 8065"/>
            </a:avLst>
          </a:prstGeom>
          <a:solidFill>
            <a:srgbClr val="FBE7C6"/>
          </a:solidFill>
          <a:ln w="9525">
            <a:solidFill>
              <a:srgbClr val="E9A23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55464" y="4809744"/>
            <a:ext cx="18288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BC Flow 表达性策略</a:t>
            </a:r>
            <a:endParaRPr lang="en-US" sz="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μᵝ(s,z) 多模态行为先验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867144" y="4809744"/>
            <a:ext cx="1828800" cy="566928"/>
          </a:xfrm>
          <a:prstGeom prst="roundRect">
            <a:avLst>
              <a:gd name="adj" fmla="val 8065"/>
            </a:avLst>
          </a:prstGeom>
          <a:solidFill>
            <a:srgbClr val="FBE7C6"/>
          </a:solidFill>
          <a:ln w="9525">
            <a:solidFill>
              <a:srgbClr val="E9A23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67144" y="4809744"/>
            <a:ext cx="18288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一步策略 μ(s,z)</a:t>
            </a:r>
            <a:endParaRPr lang="en-US" sz="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最大化 Q + 蒸馏正则 (无 BPTT)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9134856" y="4389120"/>
            <a:ext cx="126187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134856" y="4462272"/>
            <a:ext cx="1261872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77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退化感知奖励 r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9299448" y="4791456"/>
            <a:ext cx="987552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 = 信息增益 (D-opt/MI)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− λ₁·可定位性风险(η)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− λ₂·运动代价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434840" y="4892040"/>
            <a:ext cx="201168" cy="0"/>
          </a:xfrm>
          <a:prstGeom prst="line">
            <a:avLst/>
          </a:prstGeom>
          <a:noFill/>
          <a:ln w="2540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8897112" y="4892040"/>
            <a:ext cx="201168" cy="0"/>
          </a:xfrm>
          <a:prstGeom prst="line">
            <a:avLst/>
          </a:prstGeom>
          <a:noFill/>
          <a:ln w="25400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365760" y="5742432"/>
            <a:ext cx="1417320" cy="841248"/>
          </a:xfrm>
          <a:prstGeom prst="roundRect">
            <a:avLst>
              <a:gd name="adj" fmla="val 7609"/>
            </a:avLst>
          </a:prstGeom>
          <a:solidFill>
            <a:srgbClr val="E76F51"/>
          </a:solidFill>
          <a:ln/>
        </p:spPr>
      </p:sp>
      <p:sp>
        <p:nvSpPr>
          <p:cNvPr id="69" name="Text 67"/>
          <p:cNvSpPr/>
          <p:nvPr/>
        </p:nvSpPr>
        <p:spPr>
          <a:xfrm>
            <a:off x="402336" y="5742432"/>
            <a:ext cx="1344168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可定位性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约束导航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1965960" y="5742432"/>
            <a:ext cx="859536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5875">
            <a:solidFill>
              <a:srgbClr val="E76F5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2130552" y="5852160"/>
            <a:ext cx="1883664" cy="621792"/>
          </a:xfrm>
          <a:prstGeom prst="roundRect">
            <a:avLst>
              <a:gd name="adj" fmla="val 8824"/>
            </a:avLst>
          </a:prstGeom>
          <a:solidFill>
            <a:srgbClr val="FCEAE3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130552" y="5888736"/>
            <a:ext cx="1883664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C3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退化方向约束局部规划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2130552" y="6199632"/>
            <a:ext cx="188366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Lagrangian 约束 / 退化方向锁定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032504" y="6163056"/>
            <a:ext cx="164592" cy="0"/>
          </a:xfrm>
          <a:prstGeom prst="line">
            <a:avLst/>
          </a:prstGeom>
          <a:noFill/>
          <a:ln w="25400">
            <a:solidFill>
              <a:srgbClr val="E76F51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4233672" y="5852160"/>
            <a:ext cx="1883664" cy="621792"/>
          </a:xfrm>
          <a:prstGeom prst="roundRect">
            <a:avLst>
              <a:gd name="adj" fmla="val 8824"/>
            </a:avLst>
          </a:prstGeom>
          <a:solidFill>
            <a:srgbClr val="FCEAE3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233672" y="5888736"/>
            <a:ext cx="1883664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C3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主动回环触发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4233672" y="6199632"/>
            <a:ext cx="188366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趋向强可定位性区重访降漂移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135624" y="6163056"/>
            <a:ext cx="164592" cy="0"/>
          </a:xfrm>
          <a:prstGeom prst="line">
            <a:avLst/>
          </a:prstGeom>
          <a:noFill/>
          <a:ln w="25400">
            <a:solidFill>
              <a:srgbClr val="E76F51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6336792" y="5852160"/>
            <a:ext cx="1883664" cy="621792"/>
          </a:xfrm>
          <a:prstGeom prst="roundRect">
            <a:avLst>
              <a:gd name="adj" fmla="val 8824"/>
            </a:avLst>
          </a:prstGeom>
          <a:solidFill>
            <a:srgbClr val="FCEAE3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336792" y="5888736"/>
            <a:ext cx="1883664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C3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自适应行为切换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6336792" y="6199632"/>
            <a:ext cx="188366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η=none→寻几何特征 / full→自由探索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8238744" y="6163056"/>
            <a:ext cx="164592" cy="0"/>
          </a:xfrm>
          <a:prstGeom prst="line">
            <a:avLst/>
          </a:prstGeom>
          <a:noFill/>
          <a:ln w="25400">
            <a:solidFill>
              <a:srgbClr val="E76F51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8439912" y="5852160"/>
            <a:ext cx="1883664" cy="621792"/>
          </a:xfrm>
          <a:prstGeom prst="roundRect">
            <a:avLst>
              <a:gd name="adj" fmla="val 8824"/>
            </a:avLst>
          </a:prstGeom>
          <a:solidFill>
            <a:srgbClr val="FCEAE3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439912" y="5888736"/>
            <a:ext cx="1883664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C3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运动控制 → 机器人执行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8439912" y="6199632"/>
            <a:ext cx="188366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MPC / 轨迹跟踪 → 平台运动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6263640" y="1444752"/>
            <a:ext cx="0" cy="256032"/>
          </a:xfrm>
          <a:prstGeom prst="line">
            <a:avLst/>
          </a:prstGeom>
          <a:noFill/>
          <a:ln w="28575">
            <a:solidFill>
              <a:srgbClr val="0E2A47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6263640" y="2871216"/>
            <a:ext cx="0" cy="201168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6263640" y="4041648"/>
            <a:ext cx="0" cy="201168"/>
          </a:xfrm>
          <a:prstGeom prst="line">
            <a:avLst/>
          </a:prstGeom>
          <a:noFill/>
          <a:ln w="28575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>
            <a:off x="6263640" y="5541264"/>
            <a:ext cx="0" cy="201168"/>
          </a:xfrm>
          <a:prstGeom prst="line">
            <a:avLst/>
          </a:prstGeom>
          <a:noFill/>
          <a:ln w="28575">
            <a:solidFill>
              <a:srgbClr val="C77F1A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11018520" y="6163056"/>
            <a:ext cx="822960" cy="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841480" y="1143000"/>
            <a:ext cx="0" cy="5020056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018520" y="1143000"/>
            <a:ext cx="822960" cy="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  <a:tailEnd type="triangle"/>
          </a:ln>
        </p:spPr>
      </p:sp>
      <p:sp>
        <p:nvSpPr>
          <p:cNvPr id="93" name="Text 91"/>
          <p:cNvSpPr/>
          <p:nvPr/>
        </p:nvSpPr>
        <p:spPr>
          <a:xfrm>
            <a:off x="10881360" y="3474720"/>
            <a:ext cx="11430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9C3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闭环反馈</a:t>
            </a:r>
            <a:endParaRPr lang="en-US" sz="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9C3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执行→环境→新观测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研究内容逻辑链：科学问题 → 研究内容 → 关键技术 → 创新点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1430000" cy="658368"/>
          </a:xfrm>
          <a:prstGeom prst="roundRect">
            <a:avLst>
              <a:gd name="adj" fmla="val 11111"/>
            </a:avLst>
          </a:prstGeom>
          <a:solidFill>
            <a:srgbClr val="0E2A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22960"/>
            <a:ext cx="110642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核心科学问题：在几何退化、GPS 拒止的地下空间中，机器人如何 “主动运动” 以同时保障感知可靠性、最大化地图信息增益并实现自适应导航？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65760" y="1627632"/>
            <a:ext cx="3657600" cy="493776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27632"/>
            <a:ext cx="365760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27632"/>
            <a:ext cx="32918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2267712"/>
            <a:ext cx="3255264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退化环境建图底座与可定位性在线量化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926080"/>
            <a:ext cx="3255264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科学问题：自相似几何下感知可靠性如何被实时、无需调参地表征？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3712464"/>
            <a:ext cx="325526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5216" y="4005072"/>
            <a:ext cx="32369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FAST-LIO2/Faster-LIO 紧耦合里程计 (iEKF + ikd-Tree)</a:t>
            </a:r>
            <a:endParaRPr lang="en-US" sz="1000" dirty="0"/>
          </a:p>
          <a:p>
            <a:pPr algn="l"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X-ICP 式 Hessian 特征空间分解</a:t>
            </a:r>
            <a:endParaRPr lang="en-US" sz="1000" dirty="0"/>
          </a:p>
          <a:p>
            <a:pPr algn="l"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6-DoF 三级可定位性状态 η 实时估计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" y="5724144"/>
            <a:ext cx="3328416" cy="713232"/>
          </a:xfrm>
          <a:prstGeom prst="roundRect">
            <a:avLst>
              <a:gd name="adj" fmla="val 7692"/>
            </a:avLst>
          </a:prstGeom>
          <a:solidFill>
            <a:srgbClr val="F0F4F8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724144"/>
            <a:ext cx="3127248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创新：把“可定位性”从离线诊断升级为在线、可微的决策状态量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70248" y="1627632"/>
            <a:ext cx="3657600" cy="493776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5875">
            <a:solidFill>
              <a:srgbClr val="C77F1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70248" y="1627632"/>
            <a:ext cx="3657600" cy="548640"/>
          </a:xfrm>
          <a:prstGeom prst="rect">
            <a:avLst/>
          </a:prstGeom>
          <a:solidFill>
            <a:srgbClr val="C77F1A"/>
          </a:solidFill>
          <a:ln/>
        </p:spPr>
      </p:sp>
      <p:sp>
        <p:nvSpPr>
          <p:cNvPr id="16" name="Text 14"/>
          <p:cNvSpPr/>
          <p:nvPr/>
        </p:nvSpPr>
        <p:spPr>
          <a:xfrm>
            <a:off x="4453128" y="1627632"/>
            <a:ext cx="32918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471416" y="2267712"/>
            <a:ext cx="3255264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退化感知驱动的具身主动探索决策机理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71416" y="2926080"/>
            <a:ext cx="3255264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C77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科学问题：探索–利用–可定位性三元权衡下的最优决策机理是什么？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71416" y="3712464"/>
            <a:ext cx="325526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9704" y="4005072"/>
            <a:ext cx="32369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ρ-POMDP 主动感知建模</a:t>
            </a:r>
            <a:endParaRPr lang="en-US" sz="1000" dirty="0"/>
          </a:p>
          <a:p>
            <a:pPr algn="l"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FQL 双策略：BC Flow 多模态先验 + 一步 Q 最大化</a:t>
            </a:r>
            <a:endParaRPr lang="en-US" sz="1000" dirty="0"/>
          </a:p>
          <a:p>
            <a:pPr algn="l"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退化感知奖励 r=信息增益−可定位性风险−代价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34840" y="5724144"/>
            <a:ext cx="3328416" cy="713232"/>
          </a:xfrm>
          <a:prstGeom prst="roundRect">
            <a:avLst>
              <a:gd name="adj" fmla="val 7692"/>
            </a:avLst>
          </a:prstGeom>
          <a:solidFill>
            <a:srgbClr val="F0F4F8"/>
          </a:solidFill>
          <a:ln w="9525">
            <a:solidFill>
              <a:srgbClr val="C77F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44568" y="5724144"/>
            <a:ext cx="3127248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C77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创新：用表达性离线 RL 策略统一刻画前沿/回环/避退化的多峰决策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174736" y="1627632"/>
            <a:ext cx="3657600" cy="493776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5875">
            <a:solidFill>
              <a:srgbClr val="E76F5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74736" y="1627632"/>
            <a:ext cx="3657600" cy="5486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5" name="Text 23"/>
          <p:cNvSpPr/>
          <p:nvPr/>
        </p:nvSpPr>
        <p:spPr>
          <a:xfrm>
            <a:off x="8357616" y="1627632"/>
            <a:ext cx="32918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研究内容三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75904" y="2267712"/>
            <a:ext cx="3255264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可定位性约束下的自适应导航与闭环验证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75904" y="2926080"/>
            <a:ext cx="3255264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科学问题：感知-决策-导航闭环如何随退化状态在线自适应？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375904" y="3712464"/>
            <a:ext cx="325526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94192" y="4005072"/>
            <a:ext cx="32369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退化方向约束局部规划 + 主动回环触发</a:t>
            </a:r>
            <a:endParaRPr lang="en-US" sz="1000" dirty="0"/>
          </a:p>
          <a:p>
            <a:pPr algn="l"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η 驱动的行为切换 (offline→online 适配)</a:t>
            </a:r>
            <a:endParaRPr lang="en-US" sz="1000" dirty="0"/>
          </a:p>
          <a:p>
            <a:pPr algn="l"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矿井/隧道仿真 + 实物闭环验证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339328" y="5724144"/>
            <a:ext cx="3328416" cy="713232"/>
          </a:xfrm>
          <a:prstGeom prst="roundRect">
            <a:avLst>
              <a:gd name="adj" fmla="val 7692"/>
            </a:avLst>
          </a:prstGeom>
          <a:solidFill>
            <a:srgbClr val="F0F4F8"/>
          </a:solidFill>
          <a:ln w="9525">
            <a:solidFill>
              <a:srgbClr val="E76F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49056" y="5724144"/>
            <a:ext cx="3127248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创新：可定位性约束贯通“估计-规划-控制”全链路的自适应闭环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面向地下退化环境的具身主动感知与自适应导航机理</dc:title>
  <dc:subject>PptxGenJS Presentation</dc:subject>
  <dc:creator>Claude</dc:creator>
  <cp:lastModifiedBy>Claude</cp:lastModifiedBy>
  <cp:revision>1</cp:revision>
  <dcterms:created xsi:type="dcterms:W3CDTF">2026-06-07T08:38:44Z</dcterms:created>
  <dcterms:modified xsi:type="dcterms:W3CDTF">2026-06-07T08:38:44Z</dcterms:modified>
</cp:coreProperties>
</file>